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מושבים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5CFF"/>
              </a:solidFill>
              <a:effectLst/>
            </c:spPr>
          </c:dPt>
          <c:dPt>
            <c:idx val="1"/>
            <c:bubble3D val="0"/>
            <c:spPr>
              <a:solidFill>
                <a:srgbClr val="B7A6FF"/>
              </a:solidFill>
              <a:effectLst/>
            </c:spPr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פעילים 7 ימים</c:v>
                </c:pt>
                <c:pt idx="1">
                  <c:v>פעילים 8–30 יום</c:v>
                </c:pt>
                <c:pt idx="2">
                  <c:v>רדום 30+ יום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29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l"/>
      <c:overlay val="0"/>
      <c:txPr>
        <a:bodyPr/>
        <a:lstStyle/>
        <a:p>
          <a:pPr>
            <a:defRPr sz="1100">
              <a:solidFill>
                <a:srgbClr val="1E224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הצעות קוד</c:v>
                </c:pt>
              </c:strCache>
            </c:strRef>
          </c:tx>
          <c:spPr>
            <a:solidFill>
              <a:srgbClr val="7C5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2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ינואר</c:v>
                  </c:pt>
                  <c:pt idx="1">
                    <c:v>פברואר</c:v>
                  </c:pt>
                  <c:pt idx="2">
                    <c:v>מרץ</c:v>
                  </c:pt>
                  <c:pt idx="3">
                    <c:v>אפריל</c:v>
                  </c:pt>
                  <c:pt idx="4">
                    <c:v>מאי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113</c:v>
                </c:pt>
                <c:pt idx="2">
                  <c:v>580</c:v>
                </c:pt>
                <c:pt idx="3">
                  <c:v>762</c:v>
                </c:pt>
                <c:pt idx="4">
                  <c:v>2692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24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3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ממוצע DAU</c:v>
                </c:pt>
              </c:strCache>
            </c:strRef>
          </c:tx>
          <c:spPr>
            <a:solidFill>
              <a:srgbClr val="12B886"/>
            </a:solidFill>
            <a:ln w="38100" cap="flat">
              <a:solidFill>
                <a:srgbClr val="12B88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2B886"/>
              </a:solidFill>
              <a:ln w="9525" cap="flat">
                <a:solidFill>
                  <a:srgbClr val="12B8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ינואר</c:v>
                  </c:pt>
                  <c:pt idx="1">
                    <c:v>פברואר</c:v>
                  </c:pt>
                  <c:pt idx="2">
                    <c:v>מרץ</c:v>
                  </c:pt>
                  <c:pt idx="3">
                    <c:v>אפריל</c:v>
                  </c:pt>
                  <c:pt idx="4">
                    <c:v>מאי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1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10"/>
          <c:min val="0"/>
        </c:scaling>
        <c:delete val="1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188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E224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משתמשים</c:v>
                </c:pt>
              </c:strCache>
            </c:strRef>
          </c:tx>
          <c:spPr>
            <a:solidFill>
              <a:srgbClr val="7C5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2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Agent</c:v>
                  </c:pt>
                  <c:pt idx="1">
                    <c:v>Chat</c:v>
                  </c:pt>
                  <c:pt idx="2">
                    <c:v>CLI</c:v>
                  </c:pt>
                  <c:pt idx="3">
                    <c:v>Code Review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28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2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2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שורות</c:v>
                </c:pt>
              </c:strCache>
            </c:strRef>
          </c:tx>
          <c:spPr>
            <a:solidFill>
              <a:srgbClr val="7C5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2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TypeScript</c:v>
                  </c:pt>
                  <c:pt idx="1">
                    <c:v>JavaScript</c:v>
                  </c:pt>
                  <c:pt idx="2">
                    <c:v>TSX</c:v>
                  </c:pt>
                  <c:pt idx="3">
                    <c:v>Python</c:v>
                  </c:pt>
                  <c:pt idx="4">
                    <c:v>SQL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601</c:v>
                </c:pt>
                <c:pt idx="1">
                  <c:v>433</c:v>
                </c:pt>
                <c:pt idx="2">
                  <c:v>222</c:v>
                </c:pt>
                <c:pt idx="3">
                  <c:v>89</c:v>
                </c:pt>
                <c:pt idx="4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2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2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5B3FD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108960"/>
            <a:ext cx="3840480" cy="3840480"/>
          </a:xfrm>
          <a:prstGeom prst="ellipse">
            <a:avLst/>
          </a:prstGeom>
          <a:solidFill>
            <a:srgbClr val="7C5CF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206240"/>
            <a:ext cx="3474720" cy="3474720"/>
          </a:xfrm>
          <a:prstGeom prst="ellipse">
            <a:avLst/>
          </a:prstGeom>
          <a:solidFill>
            <a:srgbClr val="12B886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594360"/>
            <a:ext cx="868680" cy="8686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56" y="81381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691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 לפגישת מנהלי תחום · אימוץ, שימושיות, עלויות ו-ROI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0058400" y="3611880"/>
            <a:ext cx="1307592" cy="3657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אגף מערכות מידע · ארגון menora-copilot · Enterprise menora-insurance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498348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C1E45"/>
          </a:solidFill>
          <a:ln w="12700">
            <a:solidFill>
              <a:srgbClr val="5B3F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5120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60120" y="56509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מושבים מוקצים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520440" y="498348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C1E45"/>
          </a:solidFill>
          <a:ln w="12700">
            <a:solidFill>
              <a:srgbClr val="5B3F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0" y="5120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657600" y="56509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ניצול מושבים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498348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C1E45"/>
          </a:solidFill>
          <a:ln w="12700">
            <a:solidFill>
              <a:srgbClr val="5B3F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5120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×5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355080" y="56509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צמיחת DAU במאי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915400" y="498348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C1E45"/>
          </a:solidFill>
          <a:ln w="12700">
            <a:solidFill>
              <a:srgbClr val="5B3F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52560" y="5120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11.9K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9052560" y="56509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סיבובי צ'אט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96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E9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ביוני 2026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76656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8E9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Metrics Viewer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12703" y="384048"/>
            <a:ext cx="566928" cy="566928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84048"/>
            <a:ext cx="10042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תקציר מנהלים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36576"/>
            <a:ext cx="10042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· מנורה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0" y="6400800"/>
            <a:ext cx="9722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GitHub Copilot Metrics API · 19/01/2026–31/05/2026 (126 ימים)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22960" y="1234440"/>
            <a:ext cx="24992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1234440"/>
            <a:ext cx="82296" cy="141732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0" name="Shape 7"/>
          <p:cNvSpPr/>
          <p:nvPr/>
        </p:nvSpPr>
        <p:spPr>
          <a:xfrm>
            <a:off x="2609012" y="1435608"/>
            <a:ext cx="457200" cy="457200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596" y="153619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1399032"/>
            <a:ext cx="15848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1024128" y="1783080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מושבים מוקצים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24128" y="2194560"/>
            <a:ext cx="2096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ניצול 97% (34/35 פעילים)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505124" y="1234440"/>
            <a:ext cx="24992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05124" y="1234440"/>
            <a:ext cx="82296" cy="1417320"/>
          </a:xfrm>
          <a:prstGeom prst="rect">
            <a:avLst/>
          </a:prstGeom>
          <a:solidFill>
            <a:srgbClr val="12B886"/>
          </a:solidFill>
          <a:ln/>
        </p:spPr>
      </p:sp>
      <p:sp>
        <p:nvSpPr>
          <p:cNvPr id="17" name="Shape 13"/>
          <p:cNvSpPr/>
          <p:nvPr/>
        </p:nvSpPr>
        <p:spPr>
          <a:xfrm>
            <a:off x="5291176" y="1435608"/>
            <a:ext cx="457200" cy="457200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760" y="153619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06292" y="1399032"/>
            <a:ext cx="15848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800" dirty="0"/>
          </a:p>
        </p:txBody>
      </p:sp>
      <p:sp>
        <p:nvSpPr>
          <p:cNvPr id="20" name="Text 15"/>
          <p:cNvSpPr/>
          <p:nvPr/>
        </p:nvSpPr>
        <p:spPr>
          <a:xfrm>
            <a:off x="3706292" y="1783080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ממוצע DAU במאי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706292" y="2194560"/>
            <a:ext cx="2096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מ-2 בינואר — פי 5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87288" y="1234440"/>
            <a:ext cx="24992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87288" y="1234440"/>
            <a:ext cx="82296" cy="141732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4" name="Shape 19"/>
          <p:cNvSpPr/>
          <p:nvPr/>
        </p:nvSpPr>
        <p:spPr>
          <a:xfrm>
            <a:off x="7973339" y="1435608"/>
            <a:ext cx="457200" cy="457200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923" y="1536192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88456" y="1399032"/>
            <a:ext cx="15848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4,181</a:t>
            </a:r>
            <a:endParaRPr lang="en-US" sz="3800" dirty="0"/>
          </a:p>
        </p:txBody>
      </p:sp>
      <p:sp>
        <p:nvSpPr>
          <p:cNvPr id="27" name="Text 21"/>
          <p:cNvSpPr/>
          <p:nvPr/>
        </p:nvSpPr>
        <p:spPr>
          <a:xfrm>
            <a:off x="6388456" y="1783080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הצעות קוד מצטבר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388456" y="2194560"/>
            <a:ext cx="2096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1,078 קבלות · 25.8%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8869451" y="1234440"/>
            <a:ext cx="24992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869451" y="1234440"/>
            <a:ext cx="82296" cy="1417320"/>
          </a:xfrm>
          <a:prstGeom prst="rect">
            <a:avLst/>
          </a:prstGeom>
          <a:solidFill>
            <a:srgbClr val="5B3FD6"/>
          </a:solidFill>
          <a:ln/>
        </p:spPr>
      </p:sp>
      <p:sp>
        <p:nvSpPr>
          <p:cNvPr id="31" name="Shape 25"/>
          <p:cNvSpPr/>
          <p:nvPr/>
        </p:nvSpPr>
        <p:spPr>
          <a:xfrm>
            <a:off x="10655503" y="1435608"/>
            <a:ext cx="457200" cy="457200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6087" y="1536192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070619" y="1399032"/>
            <a:ext cx="15848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5B3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11,909</a:t>
            </a:r>
            <a:endParaRPr lang="en-US" sz="3800" dirty="0"/>
          </a:p>
        </p:txBody>
      </p:sp>
      <p:sp>
        <p:nvSpPr>
          <p:cNvPr id="34" name="Text 27"/>
          <p:cNvSpPr/>
          <p:nvPr/>
        </p:nvSpPr>
        <p:spPr>
          <a:xfrm>
            <a:off x="9070619" y="1783080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סיבובי צ'אט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9070619" y="2194560"/>
            <a:ext cx="2096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אינטראקציה יומיומית גבוהה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822960" y="2971800"/>
            <a:ext cx="69037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22960" y="2971800"/>
            <a:ext cx="82296" cy="2697480"/>
          </a:xfrm>
          <a:prstGeom prst="rect">
            <a:avLst/>
          </a:prstGeom>
          <a:solidFill>
            <a:srgbClr val="12B886"/>
          </a:solidFill>
          <a:ln/>
        </p:spPr>
      </p:sp>
      <p:sp>
        <p:nvSpPr>
          <p:cNvPr id="38" name="Text 31"/>
          <p:cNvSpPr/>
          <p:nvPr/>
        </p:nvSpPr>
        <p:spPr>
          <a:xfrm>
            <a:off x="1143000" y="322783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המסר למנהלים</a:t>
            </a:r>
            <a:endParaRPr lang="en-US" sz="1900" dirty="0"/>
          </a:p>
        </p:txBody>
      </p:sp>
      <p:sp>
        <p:nvSpPr>
          <p:cNvPr id="39" name="Text 32"/>
          <p:cNvSpPr/>
          <p:nvPr/>
        </p:nvSpPr>
        <p:spPr>
          <a:xfrm>
            <a:off x="1143000" y="3703320"/>
            <a:ext cx="6355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E9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ההשקה מצליחה. </a:t>
            </a:r>
            <a:pPr rtl="1" algn="r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קצב השימוש מזנק — במיוחד במאי — רוב המושבים בשימוש, והצוות כבר עובד בעיקר במצב </a:t>
            </a:r>
            <a:pPr rtl="1" algn="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"קודם קוד" (IDE + Agent)</a:t>
            </a:r>
            <a:pPr rtl="1" algn="r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בשלב ההשקה ה-ROI המדיד עדיין מתחת לעלות — </a:t>
            </a:r>
            <a:pPr rtl="1" algn="r"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נורמלי ל-Early Adoption</a:t>
            </a:r>
            <a:pPr rtl="1" algn="r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אך המגמה חיובית ויש מנופים ברורים: CLI, Code Review ומושבים רדומים.</a:t>
            </a:r>
            <a:endParaRPr lang="en-US" sz="1550" dirty="0"/>
          </a:p>
        </p:txBody>
      </p:sp>
      <p:sp>
        <p:nvSpPr>
          <p:cNvPr id="40" name="Shape 33"/>
          <p:cNvSpPr/>
          <p:nvPr/>
        </p:nvSpPr>
        <p:spPr>
          <a:xfrm>
            <a:off x="7955280" y="2971800"/>
            <a:ext cx="3413455" cy="2697480"/>
          </a:xfrm>
          <a:prstGeom prst="roundRect">
            <a:avLst>
              <a:gd name="adj" fmla="val 3051"/>
            </a:avLst>
          </a:prstGeom>
          <a:solidFill>
            <a:srgbClr val="12132E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41" name="Text 34"/>
          <p:cNvSpPr/>
          <p:nvPr/>
        </p:nvSpPr>
        <p:spPr>
          <a:xfrm>
            <a:off x="8229600" y="3227832"/>
            <a:ext cx="2864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אימוץ דומיננטי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8229600" y="3630168"/>
            <a:ext cx="28648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first</a:t>
            </a:r>
            <a:endParaRPr lang="en-US" sz="4000" dirty="0"/>
          </a:p>
        </p:txBody>
      </p:sp>
      <p:sp>
        <p:nvSpPr>
          <p:cNvPr id="43" name="Text 36"/>
          <p:cNvSpPr/>
          <p:nvPr/>
        </p:nvSpPr>
        <p:spPr>
          <a:xfrm>
            <a:off x="8229600" y="4389120"/>
            <a:ext cx="2864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3000" dirty="0"/>
          </a:p>
        </p:txBody>
      </p:sp>
      <p:sp>
        <p:nvSpPr>
          <p:cNvPr id="44" name="Text 37"/>
          <p:cNvSpPr/>
          <p:nvPr/>
        </p:nvSpPr>
        <p:spPr>
          <a:xfrm>
            <a:off x="8229600" y="4910328"/>
            <a:ext cx="28648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מהמשתמשים בדוח 28 יום עובדים ב-IDE עם השלמות ו-Agent בעורך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12703" y="384048"/>
            <a:ext cx="566928" cy="566928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84048"/>
            <a:ext cx="10042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ארגוני — למה Copilot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36576"/>
            <a:ext cx="10042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· מנורה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0" y="6400800"/>
            <a:ext cx="9722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GitHub Copilot Metrics API · 19/01/2026–31/05/2026 (126 ימים)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22960" y="1371600"/>
            <a:ext cx="5852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0" y="1783080"/>
            <a:ext cx="603504" cy="603504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92024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162763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פרודוקטיביות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097280" y="208483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האצת כתיבת קוד, פחות boilerplate, וזמן מהיר יותר ל-PR.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" y="3017520"/>
            <a:ext cx="5852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60720" y="3429000"/>
            <a:ext cx="603504" cy="603504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56616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2735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ידע נגיש בזרימה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097280" y="373075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צ'אט בתוך העורך מקצר חיפוש בתיעוד וב-Stack Overflow.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22960" y="4663440"/>
            <a:ext cx="5852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760720" y="5074920"/>
            <a:ext cx="603504" cy="603504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521208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49194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ממשל ואבטחה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097280" y="537667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הצעות קוד ציבוריות חסומות; שימוש מנוהל ברמת Enterprise.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949440" y="1371600"/>
            <a:ext cx="4419295" cy="4709160"/>
          </a:xfrm>
          <a:prstGeom prst="roundRect">
            <a:avLst>
              <a:gd name="adj" fmla="val 1862"/>
            </a:avLst>
          </a:prstGeom>
          <a:solidFill>
            <a:srgbClr val="12132E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7269480" y="1627632"/>
            <a:ext cx="3779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תמונת מצב ארגונית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269480" y="2240280"/>
            <a:ext cx="1950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menora-copilot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082735" y="22402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ארגון GitHub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269480" y="2761488"/>
            <a:ext cx="3779215" cy="0"/>
          </a:xfrm>
          <a:prstGeom prst="line">
            <a:avLst/>
          </a:prstGeom>
          <a:noFill/>
          <a:ln w="9525">
            <a:solidFill>
              <a:srgbClr val="33375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269480" y="2807208"/>
            <a:ext cx="1950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menora-insurance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9082735" y="28072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7269480" y="3328416"/>
            <a:ext cx="3779215" cy="0"/>
          </a:xfrm>
          <a:prstGeom prst="line">
            <a:avLst/>
          </a:prstGeom>
          <a:noFill/>
          <a:ln w="9525">
            <a:solidFill>
              <a:srgbClr val="33375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269480" y="3374136"/>
            <a:ext cx="1950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9082735" y="337413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7269480" y="3895344"/>
            <a:ext cx="3779215" cy="0"/>
          </a:xfrm>
          <a:prstGeom prst="line">
            <a:avLst/>
          </a:prstGeom>
          <a:noFill/>
          <a:ln w="9525">
            <a:solidFill>
              <a:srgbClr val="33375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269480" y="3941064"/>
            <a:ext cx="1950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 ציבורי חסום · IDE Chat + CLI מופעלים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9082735" y="394106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מדיניות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7269480" y="4462272"/>
            <a:ext cx="3779215" cy="0"/>
          </a:xfrm>
          <a:prstGeom prst="line">
            <a:avLst/>
          </a:prstGeom>
          <a:noFill/>
          <a:ln w="9525">
            <a:solidFill>
              <a:srgbClr val="33375F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269480" y="4507992"/>
            <a:ext cx="1950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assign_all · 35 מושבים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9082735" y="45079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מושבים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7269480" y="5029200"/>
            <a:ext cx="3779215" cy="0"/>
          </a:xfrm>
          <a:prstGeom prst="line">
            <a:avLst/>
          </a:prstGeom>
          <a:noFill/>
          <a:ln w="9525">
            <a:solidFill>
              <a:srgbClr val="33375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269480" y="5074920"/>
            <a:ext cx="1950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פעילים / 12 לא פעילים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9082735" y="50749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מחזור חיוב נוכחי</a:t>
            </a:r>
            <a:endParaRPr lang="en-US" sz="1150" dirty="0"/>
          </a:p>
        </p:txBody>
      </p:sp>
      <p:sp>
        <p:nvSpPr>
          <p:cNvPr id="42" name="Shape 36"/>
          <p:cNvSpPr/>
          <p:nvPr/>
        </p:nvSpPr>
        <p:spPr>
          <a:xfrm>
            <a:off x="7269480" y="5596128"/>
            <a:ext cx="3779215" cy="0"/>
          </a:xfrm>
          <a:prstGeom prst="line">
            <a:avLst/>
          </a:prstGeom>
          <a:noFill/>
          <a:ln w="9525">
            <a:solidFill>
              <a:srgbClr val="33375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269480" y="5641848"/>
            <a:ext cx="1950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מ-19/01/2026 (אין נתונים לפני כן)</a:t>
            </a:r>
            <a:endParaRPr lang="en-US" sz="1250" dirty="0"/>
          </a:p>
        </p:txBody>
      </p:sp>
      <p:sp>
        <p:nvSpPr>
          <p:cNvPr id="44" name="Text 38"/>
          <p:cNvSpPr/>
          <p:nvPr/>
        </p:nvSpPr>
        <p:spPr>
          <a:xfrm>
            <a:off x="9082735" y="56418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50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היסטוריית API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12703" y="384048"/>
            <a:ext cx="566928" cy="566928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84048"/>
            <a:ext cx="10042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מושבים וניצול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36576"/>
            <a:ext cx="10042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· מנורה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0" y="6400800"/>
            <a:ext cx="9722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GitHub Copilot Metrics API · 19/01/2026–31/05/2026 (126 ימים)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22960" y="1325880"/>
            <a:ext cx="243070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1508760"/>
            <a:ext cx="24307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2430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מושבים מוקצים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71952" y="1645920"/>
            <a:ext cx="2377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3527984" y="1325880"/>
            <a:ext cx="243070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27984" y="1508760"/>
            <a:ext cx="24307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3527984" y="2194560"/>
            <a:ext cx="2430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פעילים ב-30 יום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76976" y="1645920"/>
            <a:ext cx="2377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6233008" y="1325880"/>
            <a:ext cx="243070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33008" y="1508760"/>
            <a:ext cx="24307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6233008" y="2194560"/>
            <a:ext cx="2430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פעילים ב-7 ימים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81999" y="1645920"/>
            <a:ext cx="2377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8938031" y="1325880"/>
            <a:ext cx="243070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938031" y="1508760"/>
            <a:ext cx="24307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0E9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8938031" y="2194560"/>
            <a:ext cx="2430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ניצול מושבים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22960" y="3108960"/>
            <a:ext cx="51206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22960" y="32918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סטטוס המושבים</a:t>
            </a:r>
            <a:endParaRPr lang="en-US" sz="16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822960" y="3611880"/>
          <a:ext cx="51206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6217920" y="3108960"/>
            <a:ext cx="5150815" cy="2788920"/>
          </a:xfrm>
          <a:prstGeom prst="roundRect">
            <a:avLst>
              <a:gd name="adj" fmla="val 2951"/>
            </a:avLst>
          </a:prstGeom>
          <a:solidFill>
            <a:srgbClr val="F5F6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92240" y="3291840"/>
            <a:ext cx="46021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הזדמנויות לעידוד מחדש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10591495" y="38404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2079" y="3941064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92240" y="3794760"/>
            <a:ext cx="3962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מושב רדום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492240" y="4142232"/>
            <a:ext cx="3962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guyanmen — ללא שימוש 30+ יום. מועמד לביטול/העברה.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10591495" y="455371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2079" y="4654296"/>
            <a:ext cx="256032" cy="25603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492240" y="4507992"/>
            <a:ext cx="3962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ללא פעילות 7 יום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6492240" y="4855464"/>
            <a:ext cx="3962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קמפיין "חזרה ל-Copilot" ממוקד.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10591495" y="52669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2079" y="5367528"/>
            <a:ext cx="256032" cy="25603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492240" y="5221224"/>
            <a:ext cx="3962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תאריך הקצאה ראשון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6492240" y="5568696"/>
            <a:ext cx="3962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19/01/2026 — ההשקה צעירה, 4.5 חודשים.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12703" y="384048"/>
            <a:ext cx="566928" cy="566928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84048"/>
            <a:ext cx="10042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מגמת שימוש חודשית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36576"/>
            <a:ext cx="10042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· מנורה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0" y="6400800"/>
            <a:ext cx="9722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GitHub Copilot Metrics API · 19/01/2026–31/05/2026 (126 ימים)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22960" y="1280160"/>
            <a:ext cx="7589520" cy="48006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הצעות קוד (עמודות) מול ממוצע DAU (קו)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68680" y="1828800"/>
          <a:ext cx="74980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8641080" y="1280160"/>
            <a:ext cx="2727655" cy="4800600"/>
          </a:xfrm>
          <a:prstGeom prst="roundRect">
            <a:avLst>
              <a:gd name="adj" fmla="val 3017"/>
            </a:avLst>
          </a:prstGeom>
          <a:solidFill>
            <a:srgbClr val="12132E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915400" y="1508760"/>
            <a:ext cx="548640" cy="548640"/>
          </a:xfrm>
          <a:prstGeom prst="ellipse">
            <a:avLst/>
          </a:prstGeom>
          <a:solidFill>
            <a:srgbClr val="23264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2" y="162763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15400" y="2194560"/>
            <a:ext cx="2179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עקומת אימוץ קלאסית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915400" y="2697480"/>
            <a:ext cx="21790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התייצבות ואז קפיצה. מאי 2026 — כמעט פי 5 ב-DAU לעומת ינואר.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915400" y="3602736"/>
            <a:ext cx="2179015" cy="0"/>
          </a:xfrm>
          <a:prstGeom prst="line">
            <a:avLst/>
          </a:prstGeom>
          <a:noFill/>
          <a:ln w="9525">
            <a:solidFill>
              <a:srgbClr val="33375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915400" y="3657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22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10012680" y="3657600"/>
            <a:ext cx="1081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 (מאי מול אפריל)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915400" y="4261104"/>
            <a:ext cx="2179015" cy="0"/>
          </a:xfrm>
          <a:prstGeom prst="line">
            <a:avLst/>
          </a:prstGeom>
          <a:noFill/>
          <a:ln w="9525">
            <a:solidFill>
              <a:srgbClr val="33375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915400" y="43159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22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×7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10012680" y="4315968"/>
            <a:ext cx="1081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צ'אט (מאי מול אפריל)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915400" y="4919472"/>
            <a:ext cx="2179015" cy="0"/>
          </a:xfrm>
          <a:prstGeom prst="line">
            <a:avLst/>
          </a:prstGeom>
          <a:noFill/>
          <a:ln w="9525">
            <a:solidFill>
              <a:srgbClr val="33375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915400" y="497433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22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×4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10012680" y="4974336"/>
            <a:ext cx="1081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הצעות (מאי מול אפריל)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12703" y="384048"/>
            <a:ext cx="566928" cy="566928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84048"/>
            <a:ext cx="10042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פרודוקטיביות ואיכות — 28 יום אחרונים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36576"/>
            <a:ext cx="10042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· מנורה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0" y="6400800"/>
            <a:ext cx="9722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GitHub Copilot Metrics API · 19/01/2026–31/05/2026 (126 ימים)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22960" y="1280160"/>
            <a:ext cx="24992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1280160"/>
            <a:ext cx="82296" cy="13716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0" name="Shape 7"/>
          <p:cNvSpPr/>
          <p:nvPr/>
        </p:nvSpPr>
        <p:spPr>
          <a:xfrm>
            <a:off x="2609012" y="1481328"/>
            <a:ext cx="457200" cy="457200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596" y="15819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1444752"/>
            <a:ext cx="15848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25.4%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1024128" y="1993392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קבלה (ספירה)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505124" y="1280160"/>
            <a:ext cx="24992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05124" y="1280160"/>
            <a:ext cx="82296" cy="1371600"/>
          </a:xfrm>
          <a:prstGeom prst="rect">
            <a:avLst/>
          </a:prstGeom>
          <a:solidFill>
            <a:srgbClr val="12B886"/>
          </a:solidFill>
          <a:ln/>
        </p:spPr>
      </p:sp>
      <p:sp>
        <p:nvSpPr>
          <p:cNvPr id="16" name="Shape 12"/>
          <p:cNvSpPr/>
          <p:nvPr/>
        </p:nvSpPr>
        <p:spPr>
          <a:xfrm>
            <a:off x="5291176" y="1481328"/>
            <a:ext cx="457200" cy="457200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760" y="158191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06292" y="1444752"/>
            <a:ext cx="15848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29.7%</a:t>
            </a:r>
            <a:endParaRPr lang="en-US" sz="3800" dirty="0"/>
          </a:p>
        </p:txBody>
      </p:sp>
      <p:sp>
        <p:nvSpPr>
          <p:cNvPr id="19" name="Text 14"/>
          <p:cNvSpPr/>
          <p:nvPr/>
        </p:nvSpPr>
        <p:spPr>
          <a:xfrm>
            <a:off x="3706292" y="1993392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 קבלה (שורות)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87288" y="1280160"/>
            <a:ext cx="24992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87288" y="1280160"/>
            <a:ext cx="82296" cy="13716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2" name="Shape 17"/>
          <p:cNvSpPr/>
          <p:nvPr/>
        </p:nvSpPr>
        <p:spPr>
          <a:xfrm>
            <a:off x="7973339" y="1481328"/>
            <a:ext cx="457200" cy="457200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923" y="1581912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88456" y="1444752"/>
            <a:ext cx="15848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2,616</a:t>
            </a:r>
            <a:endParaRPr lang="en-US" sz="3800" dirty="0"/>
          </a:p>
        </p:txBody>
      </p:sp>
      <p:sp>
        <p:nvSpPr>
          <p:cNvPr id="25" name="Text 19"/>
          <p:cNvSpPr/>
          <p:nvPr/>
        </p:nvSpPr>
        <p:spPr>
          <a:xfrm>
            <a:off x="6388456" y="1993392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הצעות קוד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8869451" y="1280160"/>
            <a:ext cx="24992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869451" y="1280160"/>
            <a:ext cx="82296" cy="1371600"/>
          </a:xfrm>
          <a:prstGeom prst="rect">
            <a:avLst/>
          </a:prstGeom>
          <a:solidFill>
            <a:srgbClr val="5B3FD6"/>
          </a:solidFill>
          <a:ln/>
        </p:spPr>
      </p:sp>
      <p:sp>
        <p:nvSpPr>
          <p:cNvPr id="28" name="Shape 22"/>
          <p:cNvSpPr/>
          <p:nvPr/>
        </p:nvSpPr>
        <p:spPr>
          <a:xfrm>
            <a:off x="10655503" y="1481328"/>
            <a:ext cx="457200" cy="457200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6087" y="1581912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070619" y="1444752"/>
            <a:ext cx="15848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5B3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821</a:t>
            </a:r>
            <a:endParaRPr lang="en-US" sz="3800" dirty="0"/>
          </a:p>
        </p:txBody>
      </p:sp>
      <p:sp>
        <p:nvSpPr>
          <p:cNvPr id="31" name="Text 24"/>
          <p:cNvSpPr/>
          <p:nvPr/>
        </p:nvSpPr>
        <p:spPr>
          <a:xfrm>
            <a:off x="9070619" y="1993392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קבלות קוד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822960" y="2880360"/>
            <a:ext cx="24992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22960" y="2880360"/>
            <a:ext cx="82296" cy="13716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4" name="Shape 27"/>
          <p:cNvSpPr/>
          <p:nvPr/>
        </p:nvSpPr>
        <p:spPr>
          <a:xfrm>
            <a:off x="2609012" y="3081528"/>
            <a:ext cx="457200" cy="457200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9596" y="3182112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24128" y="3044952"/>
            <a:ext cx="15848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6,219</a:t>
            </a:r>
            <a:endParaRPr lang="en-US" sz="3800" dirty="0"/>
          </a:p>
        </p:txBody>
      </p:sp>
      <p:sp>
        <p:nvSpPr>
          <p:cNvPr id="37" name="Text 29"/>
          <p:cNvSpPr/>
          <p:nvPr/>
        </p:nvSpPr>
        <p:spPr>
          <a:xfrm>
            <a:off x="1024128" y="3593592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אינטראקציות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3505124" y="2880360"/>
            <a:ext cx="24992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3505124" y="2880360"/>
            <a:ext cx="82296" cy="1371600"/>
          </a:xfrm>
          <a:prstGeom prst="rect">
            <a:avLst/>
          </a:prstGeom>
          <a:solidFill>
            <a:srgbClr val="12B886"/>
          </a:solidFill>
          <a:ln/>
        </p:spPr>
      </p:sp>
      <p:sp>
        <p:nvSpPr>
          <p:cNvPr id="40" name="Shape 32"/>
          <p:cNvSpPr/>
          <p:nvPr/>
        </p:nvSpPr>
        <p:spPr>
          <a:xfrm>
            <a:off x="5291176" y="3081528"/>
            <a:ext cx="457200" cy="457200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1760" y="3182112"/>
            <a:ext cx="256032" cy="25603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3706292" y="3044952"/>
            <a:ext cx="15848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9,888</a:t>
            </a:r>
            <a:endParaRPr lang="en-US" sz="3800" dirty="0"/>
          </a:p>
        </p:txBody>
      </p:sp>
      <p:sp>
        <p:nvSpPr>
          <p:cNvPr id="43" name="Text 34"/>
          <p:cNvSpPr/>
          <p:nvPr/>
        </p:nvSpPr>
        <p:spPr>
          <a:xfrm>
            <a:off x="3706292" y="3593592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יצירות קוד</a:t>
            </a:r>
            <a:endParaRPr lang="en-US" sz="1300" dirty="0"/>
          </a:p>
        </p:txBody>
      </p:sp>
      <p:sp>
        <p:nvSpPr>
          <p:cNvPr id="44" name="Shape 35"/>
          <p:cNvSpPr/>
          <p:nvPr/>
        </p:nvSpPr>
        <p:spPr>
          <a:xfrm>
            <a:off x="6187288" y="2880360"/>
            <a:ext cx="24992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6187288" y="2880360"/>
            <a:ext cx="82296" cy="13716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46" name="Shape 37"/>
          <p:cNvSpPr/>
          <p:nvPr/>
        </p:nvSpPr>
        <p:spPr>
          <a:xfrm>
            <a:off x="7973339" y="3081528"/>
            <a:ext cx="457200" cy="457200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3923" y="3182112"/>
            <a:ext cx="256032" cy="25603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388456" y="3044952"/>
            <a:ext cx="15848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3,118</a:t>
            </a:r>
            <a:endParaRPr lang="en-US" sz="3800" dirty="0"/>
          </a:p>
        </p:txBody>
      </p:sp>
      <p:sp>
        <p:nvSpPr>
          <p:cNvPr id="49" name="Text 39"/>
          <p:cNvSpPr/>
          <p:nvPr/>
        </p:nvSpPr>
        <p:spPr>
          <a:xfrm>
            <a:off x="6388456" y="3593592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שורות שהוצעו</a:t>
            </a:r>
            <a:endParaRPr lang="en-US" sz="1300" dirty="0"/>
          </a:p>
        </p:txBody>
      </p:sp>
      <p:sp>
        <p:nvSpPr>
          <p:cNvPr id="50" name="Shape 40"/>
          <p:cNvSpPr/>
          <p:nvPr/>
        </p:nvSpPr>
        <p:spPr>
          <a:xfrm>
            <a:off x="8869451" y="2880360"/>
            <a:ext cx="24992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8869451" y="2880360"/>
            <a:ext cx="82296" cy="1371600"/>
          </a:xfrm>
          <a:prstGeom prst="rect">
            <a:avLst/>
          </a:prstGeom>
          <a:solidFill>
            <a:srgbClr val="0E9A72"/>
          </a:solidFill>
          <a:ln/>
        </p:spPr>
      </p:sp>
      <p:sp>
        <p:nvSpPr>
          <p:cNvPr id="52" name="Shape 42"/>
          <p:cNvSpPr/>
          <p:nvPr/>
        </p:nvSpPr>
        <p:spPr>
          <a:xfrm>
            <a:off x="10655503" y="3081528"/>
            <a:ext cx="457200" cy="457200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56087" y="3182112"/>
            <a:ext cx="256032" cy="256032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9070619" y="3044952"/>
            <a:ext cx="15848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0E9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72,059</a:t>
            </a:r>
            <a:endParaRPr lang="en-US" sz="3800" dirty="0"/>
          </a:p>
        </p:txBody>
      </p:sp>
      <p:sp>
        <p:nvSpPr>
          <p:cNvPr id="55" name="Text 44"/>
          <p:cNvSpPr/>
          <p:nvPr/>
        </p:nvSpPr>
        <p:spPr>
          <a:xfrm>
            <a:off x="9070619" y="3593592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שורות שנוספו</a:t>
            </a:r>
            <a:endParaRPr lang="en-US" sz="1300" dirty="0"/>
          </a:p>
        </p:txBody>
      </p:sp>
      <p:sp>
        <p:nvSpPr>
          <p:cNvPr id="56" name="Shape 45"/>
          <p:cNvSpPr/>
          <p:nvPr/>
        </p:nvSpPr>
        <p:spPr>
          <a:xfrm>
            <a:off x="822960" y="4572000"/>
            <a:ext cx="10545775" cy="1417320"/>
          </a:xfrm>
          <a:prstGeom prst="roundRect">
            <a:avLst>
              <a:gd name="adj" fmla="val 5806"/>
            </a:avLst>
          </a:prstGeom>
          <a:solidFill>
            <a:srgbClr val="FFF8E9"/>
          </a:solidFill>
          <a:ln w="12700">
            <a:solidFill>
              <a:srgbClr val="F3D58A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10454335" y="4983480"/>
            <a:ext cx="566928" cy="566928"/>
          </a:xfrm>
          <a:prstGeom prst="ellipse">
            <a:avLst/>
          </a:prstGeom>
          <a:solidFill>
            <a:srgbClr val="FCEBC4"/>
          </a:solidFill>
          <a:ln/>
        </p:spPr>
      </p:sp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82351" y="5102352"/>
            <a:ext cx="310896" cy="310896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1143000" y="4773168"/>
            <a:ext cx="93570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8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 לב — שני מדדים שונים של GitHub</a:t>
            </a:r>
            <a:endParaRPr lang="en-US" sz="1600" dirty="0"/>
          </a:p>
        </p:txBody>
      </p:sp>
      <p:sp>
        <p:nvSpPr>
          <p:cNvPr id="60" name="Text 48"/>
          <p:cNvSpPr/>
          <p:nvPr/>
        </p:nvSpPr>
        <p:spPr>
          <a:xfrm>
            <a:off x="1143000" y="5193792"/>
            <a:ext cx="9357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7A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ספירת "שורות שנוספו" (חלון 28 יום, דוח משתמשים) גבוהה מהסכום היומי המצטבר. במצגת — הציגו את שניהם עם תווית מפורשת: "28 יום" מול "מצטבר מתאריך השקה". לא לסכם את חלון 28 היום לשנה שלמה.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12703" y="384048"/>
            <a:ext cx="566928" cy="566928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84048"/>
            <a:ext cx="10042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שלבי אימוץ AI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36576"/>
            <a:ext cx="10042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· מנורה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0" y="6400800"/>
            <a:ext cx="9722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GitHub Copilot Metrics API · 19/01/2026–31/05/2026 (126 ימים)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852160" y="1371600"/>
            <a:ext cx="551657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B886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408615" y="1755648"/>
            <a:ext cx="603504" cy="603504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0" name="Text 7"/>
          <p:cNvSpPr/>
          <p:nvPr/>
        </p:nvSpPr>
        <p:spPr>
          <a:xfrm>
            <a:off x="10408615" y="17556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126480" y="1600200"/>
            <a:ext cx="4144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first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126480" y="2048256"/>
            <a:ext cx="41449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· השלמות · Agent בעורך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2359152"/>
            <a:ext cx="4144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משתמשים · 54%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852160" y="2926080"/>
            <a:ext cx="551657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408615" y="3310128"/>
            <a:ext cx="603504" cy="603504"/>
          </a:xfrm>
          <a:prstGeom prst="ellipse">
            <a:avLst/>
          </a:prstGeom>
          <a:solidFill>
            <a:srgbClr val="F5F6FB"/>
          </a:solidFill>
          <a:ln/>
        </p:spPr>
      </p:sp>
      <p:sp>
        <p:nvSpPr>
          <p:cNvPr id="16" name="Text 13"/>
          <p:cNvSpPr/>
          <p:nvPr/>
        </p:nvSpPr>
        <p:spPr>
          <a:xfrm>
            <a:off x="10408615" y="331012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126480" y="3154680"/>
            <a:ext cx="4144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first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126480" y="3602736"/>
            <a:ext cx="41449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בענן / Review / CLI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26480" y="3913632"/>
            <a:ext cx="4144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משתמשים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852160" y="4480560"/>
            <a:ext cx="551657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0408615" y="4864608"/>
            <a:ext cx="603504" cy="603504"/>
          </a:xfrm>
          <a:prstGeom prst="ellipse">
            <a:avLst/>
          </a:prstGeom>
          <a:solidFill>
            <a:srgbClr val="F5F6FB"/>
          </a:solidFill>
          <a:ln/>
        </p:spPr>
      </p:sp>
      <p:sp>
        <p:nvSpPr>
          <p:cNvPr id="22" name="Text 19"/>
          <p:cNvSpPr/>
          <p:nvPr/>
        </p:nvSpPr>
        <p:spPr>
          <a:xfrm>
            <a:off x="10408615" y="48646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6126480" y="4709160"/>
            <a:ext cx="4144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6126480" y="5157216"/>
            <a:ext cx="41449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 משטחי סוכן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126480" y="5468112"/>
            <a:ext cx="4144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משתמשים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22960" y="1371600"/>
            <a:ext cx="4754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22960" y="1508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 ביכולות (28 יום)</a:t>
            </a:r>
            <a:endParaRPr lang="en-US" sz="14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914400" y="1874520"/>
          <a:ext cx="45720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hape 25"/>
          <p:cNvSpPr/>
          <p:nvPr/>
        </p:nvSpPr>
        <p:spPr>
          <a:xfrm>
            <a:off x="822960" y="4251960"/>
            <a:ext cx="4754880" cy="1828800"/>
          </a:xfrm>
          <a:prstGeom prst="roundRect">
            <a:avLst>
              <a:gd name="adj" fmla="val 4500"/>
            </a:avLst>
          </a:prstGeom>
          <a:solidFill>
            <a:srgbClr val="12132E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709160" y="4480560"/>
            <a:ext cx="548640" cy="548640"/>
          </a:xfrm>
          <a:prstGeom prst="ellipse">
            <a:avLst/>
          </a:prstGeom>
          <a:solidFill>
            <a:srgbClr val="23264F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4599432"/>
            <a:ext cx="310896" cy="31089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097280" y="44988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המנוף הבא ל-ROI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1097280" y="498348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הצוות "רוכב" על Copilot בעורך ובצ'אט (100%). </a:t>
            </a:r>
            <a:pPr rtl="1" algn="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ו-Code Review עדיין ב-0% — </a:t>
            </a:r>
            <a:pPr rtl="1" algn="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בדיוק שם נמצאת קפיצת הערך הבאה: אוטומציה, סקירת PR, ושלב Agent first.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12703" y="384048"/>
            <a:ext cx="566928" cy="566928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84048"/>
            <a:ext cx="10042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מובילי שימוש — Top 10 (חלון 28 יום)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36576"/>
            <a:ext cx="10042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· מנורה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0" y="6400800"/>
            <a:ext cx="9722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GitHub Copilot Metrics API · 19/01/2026–31/05/2026 (126 ימים)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80160"/>
          <a:ext cx="74980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057400"/>
                <a:gridCol w="1691640"/>
                <a:gridCol w="914400"/>
                <a:gridCol w="1417320"/>
                <a:gridCol w="914400"/>
              </a:tblGrid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2E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משתמש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2E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שורות שנוספו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2E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קבלות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2E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אינטראקציות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2E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שלב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Talhayo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F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first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guyt-mnr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F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8,998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first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ag936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F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8,541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dmitrylilmivt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F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8,308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hgmenor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F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1,186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first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edwardkes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F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4,775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first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yosef-albo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F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first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Barleme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F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first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avigam1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F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first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dinemenoramivt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F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2,209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first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595360" y="1280160"/>
            <a:ext cx="2773375" cy="4754880"/>
          </a:xfrm>
          <a:prstGeom prst="roundRect">
            <a:avLst>
              <a:gd name="adj" fmla="val 2967"/>
            </a:avLst>
          </a:prstGeom>
          <a:solidFill>
            <a:srgbClr val="12132E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869680" y="1508760"/>
            <a:ext cx="566928" cy="566928"/>
          </a:xfrm>
          <a:prstGeom prst="ellipse">
            <a:avLst/>
          </a:prstGeom>
          <a:solidFill>
            <a:srgbClr val="2326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552" y="1627632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869680" y="2194560"/>
            <a:ext cx="22247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Champions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8869680" y="2697480"/>
            <a:ext cx="22247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כ-10 משתמשים נושאים את רוב הערך. מומלץ לזהות אותם כ-"שגרירי Copilot" — שיובילו הדרכות והרחבת שיטות עבודה לצוותים נוספים.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8869680" y="3977640"/>
            <a:ext cx="2224735" cy="0"/>
          </a:xfrm>
          <a:prstGeom prst="line">
            <a:avLst/>
          </a:prstGeom>
          <a:noFill/>
          <a:ln w="9525">
            <a:solidFill>
              <a:srgbClr val="33375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869680" y="4114800"/>
            <a:ext cx="22247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14,153</a:t>
            </a:r>
            <a:endParaRPr lang="en-US" sz="3000" dirty="0"/>
          </a:p>
        </p:txBody>
      </p:sp>
      <p:sp>
        <p:nvSpPr>
          <p:cNvPr id="16" name="Text 11"/>
          <p:cNvSpPr/>
          <p:nvPr/>
        </p:nvSpPr>
        <p:spPr>
          <a:xfrm>
            <a:off x="8869680" y="4663440"/>
            <a:ext cx="22247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שורות שנוספו אצל המוביל (Talhayo) ב-28 יום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869680" y="5349240"/>
            <a:ext cx="22247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i="1" dirty="0">
                <a:solidFill>
                  <a:srgbClr val="8E9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הערה: שמות המשתמשים מוצגים כפי שבמערכת. ניתן להציג תפקידים במקום שמות בפורומים רחבים.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12703" y="384048"/>
            <a:ext cx="566928" cy="566928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84048"/>
            <a:ext cx="10042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טכנולוגיה וכלים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36576"/>
            <a:ext cx="10042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· מנורה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0" y="6400800"/>
            <a:ext cx="9722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GitHub Copilot Metrics API · 19/01/2026–31/05/2026 (126 ימים)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22960" y="1325880"/>
            <a:ext cx="667512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1463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שפות מובילות — שורות שאושרו (מצטבר)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914400" y="1920240"/>
          <a:ext cx="6492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7726680" y="1325880"/>
            <a:ext cx="3642055" cy="2194560"/>
          </a:xfrm>
          <a:prstGeom prst="roundRect">
            <a:avLst>
              <a:gd name="adj" fmla="val 3750"/>
            </a:avLst>
          </a:prstGeom>
          <a:solidFill>
            <a:srgbClr val="12132E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001000" y="1554480"/>
            <a:ext cx="3093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עורך מוביל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001000" y="1920240"/>
            <a:ext cx="3093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8001000" y="2697480"/>
            <a:ext cx="3093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1,312 קבלות מצטברות — כמעט כל הפעילות. IntelliJ כמעט ללא שימוש.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726680" y="3703320"/>
            <a:ext cx="3642055" cy="2331720"/>
          </a:xfrm>
          <a:prstGeom prst="roundRect">
            <a:avLst>
              <a:gd name="adj" fmla="val 3529"/>
            </a:avLst>
          </a:prstGeom>
          <a:solidFill>
            <a:srgbClr val="F5F6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500055" y="3931920"/>
            <a:ext cx="548640" cy="548640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927" y="405079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01000" y="3977640"/>
            <a:ext cx="26362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התאמה לסטאק הארגוני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001000" y="4434840"/>
            <a:ext cx="309341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התפלגות השפות תואמת היטב לסטאק ה-Web/TypeScript של מנורה. שווה לשקול הדרכת IntelliJ ממוקדת אם יש צוותי Java/Kotlin רלוונטיים.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12703" y="384048"/>
            <a:ext cx="566928" cy="566928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84048"/>
            <a:ext cx="10042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— הערכה לצורך הצגה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36576"/>
            <a:ext cx="10042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· מנורה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0" y="6400800"/>
            <a:ext cx="9722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GitHub Copilot Metrics API · 19/01/2026–31/05/2026 (126 ימים)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248095" y="1325880"/>
            <a:ext cx="51206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1286439" y="1325880"/>
            <a:ext cx="82296" cy="32004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0" name="Text 7"/>
          <p:cNvSpPr/>
          <p:nvPr/>
        </p:nvSpPr>
        <p:spPr>
          <a:xfrm>
            <a:off x="6522415" y="1554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A — שמרני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22415" y="1947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מבוסס 1,507 שורות שאושרו (מצטבר)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22415" y="24231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4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שעות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716975" y="24231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שעות פיתוח שנחסכו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22415" y="2843784"/>
            <a:ext cx="4572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22415" y="28803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4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₪250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716975" y="28803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שעת מפתח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22415" y="3300984"/>
            <a:ext cx="4572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22415" y="33375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4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~₪12,500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716975" y="33375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ערך מוערך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522415" y="3758184"/>
            <a:ext cx="4572000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22415" y="37947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4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~₪25,000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716975" y="37947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רישיונות (~4.5 ח')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522415" y="429768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ECE8FF"/>
          </a:solidFill>
          <a:ln/>
        </p:spPr>
      </p:sp>
      <p:sp>
        <p:nvSpPr>
          <p:cNvPr id="24" name="Text 21"/>
          <p:cNvSpPr/>
          <p:nvPr/>
        </p:nvSpPr>
        <p:spPr>
          <a:xfrm>
            <a:off x="6613855" y="4325112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5B3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 ערך/עלות שמרני: ~0.5×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22960" y="1325880"/>
            <a:ext cx="5120640" cy="3200400"/>
          </a:xfrm>
          <a:prstGeom prst="roundRect">
            <a:avLst>
              <a:gd name="adj" fmla="val 2571"/>
            </a:avLst>
          </a:prstGeom>
          <a:solidFill>
            <a:srgbClr val="12132E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22960" y="1325880"/>
            <a:ext cx="82296" cy="3200400"/>
          </a:xfrm>
          <a:prstGeom prst="rect">
            <a:avLst/>
          </a:prstGeom>
          <a:solidFill>
            <a:srgbClr val="12B886"/>
          </a:solidFill>
          <a:ln/>
        </p:spPr>
      </p:sp>
      <p:sp>
        <p:nvSpPr>
          <p:cNvPr id="27" name="Text 24"/>
          <p:cNvSpPr/>
          <p:nvPr/>
        </p:nvSpPr>
        <p:spPr>
          <a:xfrm>
            <a:off x="1097280" y="1554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B — אופטימי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97280" y="1947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מבוסס 72K שורות בחלון 28 יום בלבד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97280" y="24688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~₪600,000</a:t>
            </a:r>
            <a:endParaRPr lang="en-US" sz="4800" dirty="0"/>
          </a:p>
        </p:txBody>
      </p:sp>
      <p:sp>
        <p:nvSpPr>
          <p:cNvPr id="30" name="Text 27"/>
          <p:cNvSpPr/>
          <p:nvPr/>
        </p:nvSpPr>
        <p:spPr>
          <a:xfrm>
            <a:off x="109728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ערך מוערך לחלון 28 יום (2 דק'/שורה, ₪250/שעה)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1097280" y="393192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3A2A12"/>
          </a:solidFill>
          <a:ln/>
        </p:spPr>
      </p:sp>
      <p:sp>
        <p:nvSpPr>
          <p:cNvPr id="32" name="Text 29"/>
          <p:cNvSpPr/>
          <p:nvPr/>
        </p:nvSpPr>
        <p:spPr>
          <a:xfrm>
            <a:off x="1188720" y="3959352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לא להכפיל לחלון שנתי — מדד 28 יום בלבד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822960" y="4800600"/>
            <a:ext cx="10545775" cy="1234440"/>
          </a:xfrm>
          <a:prstGeom prst="roundRect">
            <a:avLst>
              <a:gd name="adj" fmla="val 6667"/>
            </a:avLst>
          </a:prstGeom>
          <a:solidFill>
            <a:srgbClr val="EAF7F1"/>
          </a:solidFill>
          <a:ln w="12700">
            <a:solidFill>
              <a:srgbClr val="AEE3C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500055" y="5138928"/>
            <a:ext cx="548640" cy="548640"/>
          </a:xfrm>
          <a:prstGeom prst="ellipse">
            <a:avLst/>
          </a:prstGeom>
          <a:solidFill>
            <a:srgbClr val="D2F0E3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5257800"/>
            <a:ext cx="310896" cy="310896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097280" y="5029200"/>
            <a:ext cx="94484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המסר: בתקופת ההשקה המספרים השמרניים עדיין מתחת לעלות — נורמלי. מאי מראה מסלול להחזר, ועם הרחבת CLI / Code Review / Agent הפוטנציאל גבוה משמעותית.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822960" y="60807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i="1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אמיתי דורש כיול מול שכר מפתח, עלות מושב בפועל וזמן חיסכון לפעולה — המודלים להצגה בלבד.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12703" y="384048"/>
            <a:ext cx="566928" cy="566928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84048"/>
            <a:ext cx="10042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תהליכים מוצלחים — דוגמאות מהשטח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36576"/>
            <a:ext cx="10042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· מנורה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0" y="6400800"/>
            <a:ext cx="9722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GitHub Copilot Metrics API · 19/01/2026–31/05/2026 (126 ימים)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22960" y="1234440"/>
            <a:ext cx="10545775" cy="640080"/>
          </a:xfrm>
          <a:prstGeom prst="roundRect">
            <a:avLst>
              <a:gd name="adj" fmla="val 10000"/>
            </a:avLst>
          </a:prstGeom>
          <a:solidFill>
            <a:srgbClr val="ECE8FF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1234440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5B3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תבנית למילוי · לכל דוגמה: בעיה → איך Copilot עזר → תוצאה מדידה. החליפו את הטקסט האפור בתוכן אמיתי לפני הפגישה.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3332378" cy="3931920"/>
          </a:xfrm>
          <a:prstGeom prst="roundRect">
            <a:avLst>
              <a:gd name="adj" fmla="val 24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2103120"/>
            <a:ext cx="3332378" cy="868680"/>
          </a:xfrm>
          <a:prstGeom prst="roundRect">
            <a:avLst>
              <a:gd name="adj" fmla="val 9474"/>
            </a:avLst>
          </a:prstGeom>
          <a:solidFill>
            <a:srgbClr val="12132E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2606040"/>
            <a:ext cx="3332378" cy="365760"/>
          </a:xfrm>
          <a:prstGeom prst="rect">
            <a:avLst/>
          </a:prstGeom>
          <a:solidFill>
            <a:srgbClr val="12132E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221284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2400" b="1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097280" y="2212848"/>
            <a:ext cx="27837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התהליך / הצוות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606040"/>
            <a:ext cx="27837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/ מערכת רלוונטית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442106" y="3200400"/>
            <a:ext cx="420624" cy="420624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546" y="3291840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51560" y="3200400"/>
            <a:ext cx="2326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 / האתגר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051560" y="3547872"/>
            <a:ext cx="28751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i="1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תארו את נקודת הכאב: משימה איטית, חוזרת, או דורשת ידע מומחה.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442106" y="4114800"/>
            <a:ext cx="420624" cy="420624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546" y="4206240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51560" y="4114800"/>
            <a:ext cx="2326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Copilot עזר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051560" y="4462272"/>
            <a:ext cx="28751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i="1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באיזו יכולת השתמשתם — השלמות, צ'אט, Agent, CLI — ובאיזה הקשר.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442106" y="5029200"/>
            <a:ext cx="420624" cy="420624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3546" y="5120640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1560" y="5029200"/>
            <a:ext cx="2326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התוצאה המדידה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051560" y="5376672"/>
            <a:ext cx="28751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i="1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שנחסך, איכות, מהירות ל-PR, שביעות רצון. מספר אם אפשר.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429658" y="2103120"/>
            <a:ext cx="3332378" cy="3931920"/>
          </a:xfrm>
          <a:prstGeom prst="roundRect">
            <a:avLst>
              <a:gd name="adj" fmla="val 24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29658" y="2103120"/>
            <a:ext cx="3332378" cy="868680"/>
          </a:xfrm>
          <a:prstGeom prst="roundRect">
            <a:avLst>
              <a:gd name="adj" fmla="val 9474"/>
            </a:avLst>
          </a:prstGeom>
          <a:solidFill>
            <a:srgbClr val="12132E"/>
          </a:solidFill>
          <a:ln/>
        </p:spPr>
      </p:sp>
      <p:sp>
        <p:nvSpPr>
          <p:cNvPr id="30" name="Shape 24"/>
          <p:cNvSpPr/>
          <p:nvPr/>
        </p:nvSpPr>
        <p:spPr>
          <a:xfrm>
            <a:off x="4429658" y="2606040"/>
            <a:ext cx="3332378" cy="365760"/>
          </a:xfrm>
          <a:prstGeom prst="rect">
            <a:avLst/>
          </a:prstGeom>
          <a:solidFill>
            <a:srgbClr val="12132E"/>
          </a:solidFill>
          <a:ln/>
        </p:spPr>
      </p:sp>
      <p:sp>
        <p:nvSpPr>
          <p:cNvPr id="31" name="Text 25"/>
          <p:cNvSpPr/>
          <p:nvPr/>
        </p:nvSpPr>
        <p:spPr>
          <a:xfrm>
            <a:off x="4658258" y="221284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2400" b="1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2400" dirty="0"/>
          </a:p>
        </p:txBody>
      </p:sp>
      <p:sp>
        <p:nvSpPr>
          <p:cNvPr id="32" name="Text 26"/>
          <p:cNvSpPr/>
          <p:nvPr/>
        </p:nvSpPr>
        <p:spPr>
          <a:xfrm>
            <a:off x="4703978" y="2212848"/>
            <a:ext cx="27837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התהליך / הצוות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4703978" y="2606040"/>
            <a:ext cx="27837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/ מערכת רלוונטית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7048805" y="3200400"/>
            <a:ext cx="420624" cy="420624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0245" y="3291840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658258" y="3200400"/>
            <a:ext cx="2326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 / האתגר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4658258" y="3547872"/>
            <a:ext cx="28751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i="1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תארו את נקודת הכאב: משימה איטית, חוזרת, או דורשת ידע מומחה.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7048805" y="4114800"/>
            <a:ext cx="420624" cy="420624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0245" y="4206240"/>
            <a:ext cx="237744" cy="23774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4658258" y="4114800"/>
            <a:ext cx="2326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Copilot עזר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4658258" y="4462272"/>
            <a:ext cx="28751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i="1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באיזו יכולת השתמשתם — השלמות, צ'אט, Agent, CLI — ובאיזה הקשר.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7048805" y="5029200"/>
            <a:ext cx="420624" cy="420624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0245" y="5120640"/>
            <a:ext cx="237744" cy="237744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4658258" y="5029200"/>
            <a:ext cx="2326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התוצאה המדידה</a:t>
            </a:r>
            <a:endParaRPr lang="en-US" sz="1300" dirty="0"/>
          </a:p>
        </p:txBody>
      </p:sp>
      <p:sp>
        <p:nvSpPr>
          <p:cNvPr id="45" name="Text 36"/>
          <p:cNvSpPr/>
          <p:nvPr/>
        </p:nvSpPr>
        <p:spPr>
          <a:xfrm>
            <a:off x="4658258" y="5376672"/>
            <a:ext cx="28751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i="1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שנחסך, איכות, מהירות ל-PR, שביעות רצון. מספר אם אפשר.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8036357" y="2103120"/>
            <a:ext cx="3332378" cy="3931920"/>
          </a:xfrm>
          <a:prstGeom prst="roundRect">
            <a:avLst>
              <a:gd name="adj" fmla="val 24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8036357" y="2103120"/>
            <a:ext cx="3332378" cy="868680"/>
          </a:xfrm>
          <a:prstGeom prst="roundRect">
            <a:avLst>
              <a:gd name="adj" fmla="val 9474"/>
            </a:avLst>
          </a:prstGeom>
          <a:solidFill>
            <a:srgbClr val="12132E"/>
          </a:solidFill>
          <a:ln/>
        </p:spPr>
      </p:sp>
      <p:sp>
        <p:nvSpPr>
          <p:cNvPr id="48" name="Shape 39"/>
          <p:cNvSpPr/>
          <p:nvPr/>
        </p:nvSpPr>
        <p:spPr>
          <a:xfrm>
            <a:off x="8036357" y="2606040"/>
            <a:ext cx="3332378" cy="365760"/>
          </a:xfrm>
          <a:prstGeom prst="rect">
            <a:avLst/>
          </a:prstGeom>
          <a:solidFill>
            <a:srgbClr val="12132E"/>
          </a:solidFill>
          <a:ln/>
        </p:spPr>
      </p:sp>
      <p:sp>
        <p:nvSpPr>
          <p:cNvPr id="49" name="Text 40"/>
          <p:cNvSpPr/>
          <p:nvPr/>
        </p:nvSpPr>
        <p:spPr>
          <a:xfrm>
            <a:off x="8264957" y="221284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2400" b="1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2400" dirty="0"/>
          </a:p>
        </p:txBody>
      </p:sp>
      <p:sp>
        <p:nvSpPr>
          <p:cNvPr id="50" name="Text 41"/>
          <p:cNvSpPr/>
          <p:nvPr/>
        </p:nvSpPr>
        <p:spPr>
          <a:xfrm>
            <a:off x="8310677" y="2212848"/>
            <a:ext cx="278373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התהליך / הצוות</a:t>
            </a:r>
            <a:endParaRPr lang="en-US" sz="1400" dirty="0"/>
          </a:p>
        </p:txBody>
      </p:sp>
      <p:sp>
        <p:nvSpPr>
          <p:cNvPr id="51" name="Text 42"/>
          <p:cNvSpPr/>
          <p:nvPr/>
        </p:nvSpPr>
        <p:spPr>
          <a:xfrm>
            <a:off x="8310677" y="2606040"/>
            <a:ext cx="27837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/ מערכת רלוונטית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10655503" y="3200400"/>
            <a:ext cx="420624" cy="420624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6943" y="3291840"/>
            <a:ext cx="237744" cy="237744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8264957" y="3200400"/>
            <a:ext cx="2326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 / האתגר</a:t>
            </a:r>
            <a:endParaRPr lang="en-US" sz="1300" dirty="0"/>
          </a:p>
        </p:txBody>
      </p:sp>
      <p:sp>
        <p:nvSpPr>
          <p:cNvPr id="55" name="Text 45"/>
          <p:cNvSpPr/>
          <p:nvPr/>
        </p:nvSpPr>
        <p:spPr>
          <a:xfrm>
            <a:off x="8264957" y="3547872"/>
            <a:ext cx="28751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i="1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תארו את נקודת הכאב: משימה איטית, חוזרת, או דורשת ידע מומחה.</a:t>
            </a:r>
            <a:endParaRPr lang="en-US" sz="1050" dirty="0"/>
          </a:p>
        </p:txBody>
      </p:sp>
      <p:sp>
        <p:nvSpPr>
          <p:cNvPr id="56" name="Shape 46"/>
          <p:cNvSpPr/>
          <p:nvPr/>
        </p:nvSpPr>
        <p:spPr>
          <a:xfrm>
            <a:off x="10655503" y="4114800"/>
            <a:ext cx="420624" cy="420624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6943" y="4206240"/>
            <a:ext cx="237744" cy="237744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8264957" y="4114800"/>
            <a:ext cx="2326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Copilot עזר</a:t>
            </a:r>
            <a:endParaRPr lang="en-US" sz="1300" dirty="0"/>
          </a:p>
        </p:txBody>
      </p:sp>
      <p:sp>
        <p:nvSpPr>
          <p:cNvPr id="59" name="Text 48"/>
          <p:cNvSpPr/>
          <p:nvPr/>
        </p:nvSpPr>
        <p:spPr>
          <a:xfrm>
            <a:off x="8264957" y="4462272"/>
            <a:ext cx="28751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i="1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באיזו יכולת השתמשתם — השלמות, צ'אט, Agent, CLI — ובאיזה הקשר.</a:t>
            </a:r>
            <a:endParaRPr lang="en-US" sz="1050" dirty="0"/>
          </a:p>
        </p:txBody>
      </p:sp>
      <p:sp>
        <p:nvSpPr>
          <p:cNvPr id="60" name="Shape 49"/>
          <p:cNvSpPr/>
          <p:nvPr/>
        </p:nvSpPr>
        <p:spPr>
          <a:xfrm>
            <a:off x="10655503" y="5029200"/>
            <a:ext cx="420624" cy="420624"/>
          </a:xfrm>
          <a:prstGeom prst="ellipse">
            <a:avLst/>
          </a:prstGeom>
          <a:solidFill>
            <a:srgbClr val="F5F6FB"/>
          </a:solidFill>
          <a:ln/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6943" y="5120640"/>
            <a:ext cx="237744" cy="237744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8264957" y="5029200"/>
            <a:ext cx="2326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התוצאה המדידה</a:t>
            </a:r>
            <a:endParaRPr lang="en-US" sz="1300" dirty="0"/>
          </a:p>
        </p:txBody>
      </p:sp>
      <p:sp>
        <p:nvSpPr>
          <p:cNvPr id="63" name="Text 51"/>
          <p:cNvSpPr/>
          <p:nvPr/>
        </p:nvSpPr>
        <p:spPr>
          <a:xfrm>
            <a:off x="8264957" y="5376672"/>
            <a:ext cx="28751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i="1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שנחסך, איכות, מהירות ל-PR, שביעות רצון. מספר אם אפשר.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12703" y="384048"/>
            <a:ext cx="566928" cy="566928"/>
          </a:xfrm>
          <a:prstGeom prst="ellipse">
            <a:avLst/>
          </a:prstGeom>
          <a:solidFill>
            <a:srgbClr val="ECE8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1575" y="50292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84048"/>
            <a:ext cx="10042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סיכונים, הזדמנויות ותוכנית עבודה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36576"/>
            <a:ext cx="10042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· מנורה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0" y="6400800"/>
            <a:ext cx="9722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GitHub Copilot Metrics API · 19/01/2026–31/05/2026 (126 ימים)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355080" y="1325880"/>
            <a:ext cx="5013655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29400" y="1508760"/>
            <a:ext cx="4465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סיכונים → פעולה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29400" y="2057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5B3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ביטול / העברה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41080" y="2057400"/>
            <a:ext cx="2453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מושב רדום (guyanmen)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29400" y="2660904"/>
            <a:ext cx="4465015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29400" y="2697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5B3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קמפיין חזרה ל-Copilot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41080" y="2697480"/>
            <a:ext cx="2453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ללא פעילות 7 יום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629400" y="3300984"/>
            <a:ext cx="4465015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9400" y="3337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5B3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הדרכת Agent + PR Review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41080" y="3337560"/>
            <a:ext cx="2453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Agent / Multi-agent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29400" y="3941064"/>
            <a:ext cx="4465015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29400" y="3977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5B3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פיילוט CLI ל-DevOps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41080" y="3977640"/>
            <a:ext cx="2453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= 0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629400" y="4581144"/>
            <a:ext cx="4465015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9400" y="4617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5B3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להסביר: מדדים שונים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41080" y="4617720"/>
            <a:ext cx="2453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פער org vs דוח משתמשים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629400" y="5221224"/>
            <a:ext cx="4465015" cy="0"/>
          </a:xfrm>
          <a:prstGeom prst="line">
            <a:avLst/>
          </a:prstGeom>
          <a:noFill/>
          <a:ln w="9525">
            <a:solidFill>
              <a:srgbClr val="E4E7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29400" y="5257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5B3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לטעון "שנה מלאה"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641080" y="5257800"/>
            <a:ext cx="2453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נתונים לפני 19/01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22960" y="1325880"/>
            <a:ext cx="5257800" cy="4709160"/>
          </a:xfrm>
          <a:prstGeom prst="roundRect">
            <a:avLst>
              <a:gd name="adj" fmla="val 1748"/>
            </a:avLst>
          </a:prstGeom>
          <a:solidFill>
            <a:srgbClr val="12132E"/>
          </a:solidFill>
          <a:ln/>
          <a:effectLst>
            <a:outerShdw sx="100000" sy="100000" kx="0" ky="0" algn="bl" rotWithShape="0" blurRad="114300" dist="38100" dir="5400000">
              <a:srgbClr val="1A1A2E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097280" y="15087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המלצות אסטרטגיות · 2026 H2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5303520" y="2029968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0" name="Text 27"/>
          <p:cNvSpPr/>
          <p:nvPr/>
        </p:nvSpPr>
        <p:spPr>
          <a:xfrm>
            <a:off x="530352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1097280" y="201168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 DAU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097280" y="234086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מ-9 (מאי) ל-15+ עד סוף Q3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303520" y="2798064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4" name="Text 31"/>
          <p:cNvSpPr/>
          <p:nvPr/>
        </p:nvSpPr>
        <p:spPr>
          <a:xfrm>
            <a:off x="530352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1097280" y="277977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Champions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097280" y="310896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המובילים מלמדים צוותים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303520" y="356616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8" name="Text 35"/>
          <p:cNvSpPr/>
          <p:nvPr/>
        </p:nvSpPr>
        <p:spPr>
          <a:xfrm>
            <a:off x="530352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>
            <a:off x="1097280" y="3547872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הרחבת משטחים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1097280" y="3877056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+ Copilot Code Review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303520" y="4334256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2" name="Text 39"/>
          <p:cNvSpPr/>
          <p:nvPr/>
        </p:nvSpPr>
        <p:spPr>
          <a:xfrm>
            <a:off x="530352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1097280" y="431596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דשבורד חודשי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1097280" y="464515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לוח, טווח מתאריך השקה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303520" y="5102352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46" name="Text 43"/>
          <p:cNvSpPr/>
          <p:nvPr/>
        </p:nvSpPr>
        <p:spPr>
          <a:xfrm>
            <a:off x="5303520" y="5102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47" name="Text 44"/>
          <p:cNvSpPr/>
          <p:nvPr/>
        </p:nvSpPr>
        <p:spPr>
          <a:xfrm>
            <a:off x="1097280" y="508406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למנהלים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1097280" y="541324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ניצול 95%+ · Code→Agent · שורות/מפתח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5B3FD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291840"/>
            <a:ext cx="4206240" cy="4206240"/>
          </a:xfrm>
          <a:prstGeom prst="ellipse">
            <a:avLst/>
          </a:prstGeom>
          <a:solidFill>
            <a:srgbClr val="12B886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 — שאלות?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7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ההשקה מצליחה · המגמה עולה · המנופים הבאים: CLI, Code Review, Champions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0" y="3886200"/>
            <a:ext cx="1307592" cy="36576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C9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נספח · APIs שנקראו: /api/metrics · /api/usage-insights · /api/seats · /api/billing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8E9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פרמטרי שאילתה: since=2026-01-19 · until=2026-06-01 · githubOrg=menora-copilot · scope=organization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E9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מקור: GitHub Copilot Metrics API + לוח Copilot Metrics Viewer · 1 ביוני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5212080"/>
            <a:ext cx="6949440" cy="640080"/>
          </a:xfrm>
          <a:prstGeom prst="roundRect">
            <a:avLst>
              <a:gd name="adj" fmla="val 10000"/>
            </a:avLst>
          </a:prstGeom>
          <a:solidFill>
            <a:srgbClr val="2A1518"/>
          </a:solidFill>
          <a:ln w="12700">
            <a:solidFill>
              <a:srgbClr val="5C2A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21208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F0A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אבטחה: אין לכלול קובץ .env / PAT במצגת או ב-git. אם טוקן נחשף — סובבו אותו מיד.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— דוח מנהלים מנורה</dc:title>
  <dc:subject>PptxGenJS Presentation</dc:subject>
  <dc:creator>Copilot Metrics Viewer</dc:creator>
  <cp:lastModifiedBy>Copilot Metrics Viewer</cp:lastModifiedBy>
  <cp:revision>1</cp:revision>
  <dcterms:created xsi:type="dcterms:W3CDTF">2026-06-01T13:53:16Z</dcterms:created>
  <dcterms:modified xsi:type="dcterms:W3CDTF">2026-06-01T13:53:16Z</dcterms:modified>
</cp:coreProperties>
</file>